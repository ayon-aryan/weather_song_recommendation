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Lato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D7C63AB-443D-4F02-A74C-22367150B4C8}">
  <a:tblStyle styleId="{5D7C63AB-443D-4F02-A74C-22367150B4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regular.fntdata"/><Relationship Id="rId22" Type="http://schemas.openxmlformats.org/officeDocument/2006/relationships/font" Target="fonts/Lato-italic.fntdata"/><Relationship Id="rId21" Type="http://schemas.openxmlformats.org/officeDocument/2006/relationships/font" Target="fonts/Lato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Lato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2.png"/><Relationship Id="rId4" Type="http://schemas.openxmlformats.org/officeDocument/2006/relationships/image" Target="../media/image2.png"/><Relationship Id="rId10" Type="http://schemas.openxmlformats.org/officeDocument/2006/relationships/image" Target="../media/image20.png"/><Relationship Id="rId9" Type="http://schemas.openxmlformats.org/officeDocument/2006/relationships/image" Target="../media/image5.png"/><Relationship Id="rId5" Type="http://schemas.openxmlformats.org/officeDocument/2006/relationships/image" Target="../media/image7.png"/><Relationship Id="rId6" Type="http://schemas.openxmlformats.org/officeDocument/2006/relationships/image" Target="../media/image15.png"/><Relationship Id="rId7" Type="http://schemas.openxmlformats.org/officeDocument/2006/relationships/image" Target="../media/image4.png"/><Relationship Id="rId8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.png"/><Relationship Id="rId5" Type="http://schemas.openxmlformats.org/officeDocument/2006/relationships/image" Target="../media/image11.png"/><Relationship Id="rId6" Type="http://schemas.openxmlformats.org/officeDocument/2006/relationships/image" Target="../media/image24.png"/><Relationship Id="rId7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6.png"/><Relationship Id="rId10" Type="http://schemas.openxmlformats.org/officeDocument/2006/relationships/image" Target="../media/image22.png"/><Relationship Id="rId13" Type="http://schemas.openxmlformats.org/officeDocument/2006/relationships/image" Target="../media/image20.png"/><Relationship Id="rId1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Relationship Id="rId4" Type="http://schemas.openxmlformats.org/officeDocument/2006/relationships/image" Target="../media/image9.png"/><Relationship Id="rId9" Type="http://schemas.openxmlformats.org/officeDocument/2006/relationships/image" Target="../media/image18.png"/><Relationship Id="rId5" Type="http://schemas.openxmlformats.org/officeDocument/2006/relationships/image" Target="../media/image8.png"/><Relationship Id="rId6" Type="http://schemas.openxmlformats.org/officeDocument/2006/relationships/image" Target="../media/image3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6.png"/><Relationship Id="rId5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Relationship Id="rId4" Type="http://schemas.openxmlformats.org/officeDocument/2006/relationships/image" Target="../media/image23.png"/><Relationship Id="rId5" Type="http://schemas.openxmlformats.org/officeDocument/2006/relationships/image" Target="../media/image29.png"/><Relationship Id="rId6" Type="http://schemas.openxmlformats.org/officeDocument/2006/relationships/image" Target="../media/image34.png"/><Relationship Id="rId7" Type="http://schemas.openxmlformats.org/officeDocument/2006/relationships/image" Target="../media/image20.png"/><Relationship Id="rId8" Type="http://schemas.openxmlformats.org/officeDocument/2006/relationships/image" Target="../media/image3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27.png"/><Relationship Id="rId5" Type="http://schemas.openxmlformats.org/officeDocument/2006/relationships/image" Target="../media/image43.png"/><Relationship Id="rId6" Type="http://schemas.openxmlformats.org/officeDocument/2006/relationships/image" Target="../media/image33.png"/><Relationship Id="rId7" Type="http://schemas.openxmlformats.org/officeDocument/2006/relationships/image" Target="../media/image20.png"/><Relationship Id="rId8" Type="http://schemas.openxmlformats.org/officeDocument/2006/relationships/image" Target="../media/image4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8.png"/><Relationship Id="rId5" Type="http://schemas.openxmlformats.org/officeDocument/2006/relationships/image" Target="../media/image28.png"/><Relationship Id="rId6" Type="http://schemas.openxmlformats.org/officeDocument/2006/relationships/image" Target="../media/image20.png"/><Relationship Id="rId7" Type="http://schemas.openxmlformats.org/officeDocument/2006/relationships/image" Target="../media/image4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25.png"/><Relationship Id="rId9" Type="http://schemas.openxmlformats.org/officeDocument/2006/relationships/image" Target="../media/image20.png"/><Relationship Id="rId5" Type="http://schemas.openxmlformats.org/officeDocument/2006/relationships/image" Target="../media/image31.png"/><Relationship Id="rId6" Type="http://schemas.openxmlformats.org/officeDocument/2006/relationships/image" Target="../media/image26.png"/><Relationship Id="rId7" Type="http://schemas.openxmlformats.org/officeDocument/2006/relationships/image" Target="../media/image30.png"/><Relationship Id="rId8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36.png"/><Relationship Id="rId10" Type="http://schemas.openxmlformats.org/officeDocument/2006/relationships/image" Target="../media/image32.png"/><Relationship Id="rId13" Type="http://schemas.openxmlformats.org/officeDocument/2006/relationships/image" Target="../media/image20.png"/><Relationship Id="rId1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49.png"/><Relationship Id="rId9" Type="http://schemas.openxmlformats.org/officeDocument/2006/relationships/image" Target="../media/image35.png"/><Relationship Id="rId14" Type="http://schemas.openxmlformats.org/officeDocument/2006/relationships/image" Target="../media/image47.png"/><Relationship Id="rId5" Type="http://schemas.openxmlformats.org/officeDocument/2006/relationships/image" Target="../media/image44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Relationship Id="rId8" Type="http://schemas.openxmlformats.org/officeDocument/2006/relationships/image" Target="../media/image4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png"/><Relationship Id="rId4" Type="http://schemas.openxmlformats.org/officeDocument/2006/relationships/image" Target="../media/image4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2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76375"/>
            <a:ext cx="11049000" cy="390525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695325" y="1857375"/>
            <a:ext cx="10801350" cy="1466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Weather-Based Song Recommendation System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682050"/>
            <a:ext cx="762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DB954"/>
                </a:solidFill>
                <a:latin typeface="Urbanist"/>
                <a:ea typeface="Urbanist"/>
                <a:cs typeface="Urbanist"/>
                <a:sym typeface="Urbanist"/>
              </a:rPr>
              <a:t>Using ESP32 and Machine Learning Integration with Spotify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952500" y="4382775"/>
            <a:ext cx="10287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RV UNIVERSITY, BENGALURU-59 | 2025-2026</a:t>
            </a:r>
            <a:endParaRPr/>
          </a:p>
        </p:txBody>
      </p:sp>
      <p:pic>
        <p:nvPicPr>
          <p:cNvPr id="88" name="Google Shape;88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00387"/>
            <a:ext cx="34290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3100387"/>
            <a:ext cx="3429000" cy="2000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3100387"/>
            <a:ext cx="3429000" cy="2000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1545907" y="4110037"/>
            <a:ext cx="148018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ABHISHEK KS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1545900" y="4576750"/>
            <a:ext cx="138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B954"/>
                </a:solidFill>
                <a:latin typeface="Lato"/>
                <a:ea typeface="Lato"/>
                <a:cs typeface="Lato"/>
                <a:sym typeface="Lato"/>
              </a:rPr>
              <a:t>1RVU23CSE017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230891" y="4110037"/>
            <a:ext cx="173021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ANIKET KUMAR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414200" y="4576750"/>
            <a:ext cx="1383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B954"/>
                </a:solidFill>
                <a:latin typeface="Lato"/>
                <a:ea typeface="Lato"/>
                <a:cs typeface="Lato"/>
                <a:sym typeface="Lato"/>
              </a:rPr>
              <a:t>1RVU23CSE055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9160906" y="4110037"/>
            <a:ext cx="1490186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AYON ARYAN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9262500" y="4576750"/>
            <a:ext cx="1315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DB954"/>
                </a:solidFill>
                <a:latin typeface="Lato"/>
                <a:ea typeface="Lato"/>
                <a:cs typeface="Lato"/>
                <a:sym typeface="Lato"/>
              </a:rPr>
              <a:t>1RVU23CSE093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00250" y="34147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34147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3414712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295275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Meet the Team</a:t>
            </a:r>
            <a:endParaRPr>
              <a:solidFill>
                <a:srgbClr val="D1A65C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3852862" y="1219200"/>
            <a:ext cx="448627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Under the Guidance of: </a:t>
            </a:r>
            <a:r>
              <a:rPr b="1" i="0" lang="en-US" sz="1650" u="none" cap="none" strike="noStrike">
                <a:solidFill>
                  <a:srgbClr val="00BFFF"/>
                </a:solidFill>
                <a:latin typeface="Lato"/>
                <a:ea typeface="Lato"/>
                <a:cs typeface="Lato"/>
                <a:sym typeface="Lato"/>
              </a:rPr>
              <a:t>Prof. SHILPA HIREMATH</a:t>
            </a:r>
            <a:endParaRPr/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3" name="Google Shape;11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26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571500" y="1952625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Bridging Physical and Digital Worlds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571500" y="2486025"/>
            <a:ext cx="528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This project introduces a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novel, context-aware system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that uses environmental sensing and machine learning to enhance user experience.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571500" y="3429000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350"/>
              <a:buFont typeface="Lato"/>
              <a:buChar char="-"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An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ESP32 microcontroller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and a suite of sensors collect real-time environmental data.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4114800"/>
            <a:ext cx="52863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350"/>
              <a:buFont typeface="Lato"/>
              <a:buChar char="-"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 trained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Machine Learning model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that recommends song based </a:t>
            </a:r>
            <a:r>
              <a:rPr lang="en-US" sz="135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classified</a:t>
            </a:r>
            <a:r>
              <a:rPr lang="en-US" sz="1350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weather, which then automatically triggers a song recommendation via the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Spotify API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057775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1432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B0B0B0"/>
              </a:buClr>
              <a:buSzPts val="1350"/>
              <a:buFont typeface="Lato"/>
              <a:buChar char="-"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It's a practical application of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mood-aware automation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for smart homes and digital entertainment.</a:t>
            </a:r>
            <a:endParaRPr/>
          </a:p>
        </p:txBody>
      </p:sp>
      <p:pic>
        <p:nvPicPr>
          <p:cNvPr descr="image.png" id="120" name="Google Shape;120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62150"/>
            <a:ext cx="375523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Introduction: IoT, AI, and Experience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id="122" name="Google Shape;122;p15"/>
          <p:cNvPicPr preferRelativeResize="0"/>
          <p:nvPr/>
        </p:nvPicPr>
        <p:blipFill rotWithShape="1">
          <a:blip r:embed="rId6">
            <a:alphaModFix/>
          </a:blip>
          <a:srcRect b="16382" l="0" r="0" t="24133"/>
          <a:stretch/>
        </p:blipFill>
        <p:spPr>
          <a:xfrm>
            <a:off x="6343650" y="1962150"/>
            <a:ext cx="5286300" cy="3333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8" name="Google Shape;12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00225"/>
            <a:ext cx="5286375" cy="4095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800225"/>
            <a:ext cx="5286375" cy="4095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962025" y="2190750"/>
            <a:ext cx="4730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The Problem: Lack of Context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32" name="Google Shape;132;p16"/>
          <p:cNvSpPr txBox="1"/>
          <p:nvPr/>
        </p:nvSpPr>
        <p:spPr>
          <a:xfrm>
            <a:off x="962025" y="2724150"/>
            <a:ext cx="4505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Traditional music systems lack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real-time, contextual awareness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, relying only on past user history.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962025" y="3409950"/>
            <a:ext cx="4505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Standard weather tools are costly and fail to provide the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hyper-local data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needed for personalized experiences.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962025" y="421005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1DB954"/>
                </a:solidFill>
                <a:latin typeface="Lato"/>
                <a:ea typeface="Lato"/>
                <a:cs typeface="Lato"/>
                <a:sym typeface="Lato"/>
              </a:rPr>
              <a:t>We need a low-cost, automated system connecting environment to emotion.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724650" y="2190750"/>
            <a:ext cx="4730591" cy="7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Our Solution: Contextual Automation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7534275" y="3200400"/>
            <a:ext cx="10635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Real-Time Sensing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8597800" y="3286125"/>
            <a:ext cx="2632174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ESP32 gathers hyper-local Temp, Hum, Rain, UV data.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534275" y="4048125"/>
            <a:ext cx="10096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ML Classification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543925" y="4133850"/>
            <a:ext cx="268605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KNN model accurately predicts one of 8 weather conditions.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534275" y="4895850"/>
            <a:ext cx="1024383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Automated Playback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558658" y="4981575"/>
            <a:ext cx="267131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Spotify API uses OAuth to trigger mood-matched music instantly.</a:t>
            </a:r>
            <a:endParaRPr/>
          </a:p>
        </p:txBody>
      </p:sp>
      <p:pic>
        <p:nvPicPr>
          <p:cNvPr descr="image.png" id="142" name="Google Shape;1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58025" y="33432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086600" y="4191000"/>
            <a:ext cx="2286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091362" y="5038725"/>
            <a:ext cx="2190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Problem &amp; Solution Flow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descr="image.png" id="146" name="Google Shape;14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10400" y="3267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10400" y="411480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010400" y="49625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9" name="Google Shape;149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045678" y="4974275"/>
            <a:ext cx="3810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0" name="Google Shape;150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010400" y="3255903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1" name="Google Shape;151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007575" y="4114801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6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7" name="Google Shape;15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249078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2181225" y="2443162"/>
            <a:ext cx="82010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IoT System Design: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Implement ESP32 with multiple sensors (DHT11, BMP180, etc.) for real-time data collection.</a:t>
            </a:r>
            <a:endParaRPr/>
          </a:p>
        </p:txBody>
      </p:sp>
      <p:pic>
        <p:nvPicPr>
          <p:cNvPr descr="image.png" id="160" name="Google Shape;16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1956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2181225" y="3148012"/>
            <a:ext cx="80106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ML Classification: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Develop and train a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KNN model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to accurately categorize 8 distinct weather conditions.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366236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2181188" y="3681845"/>
            <a:ext cx="82011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API Integration: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Seamlessly connect the classified weather output to the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Spotify Web API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for automated song playback.</a:t>
            </a:r>
            <a:endParaRPr/>
          </a:p>
        </p:txBody>
      </p:sp>
      <p:pic>
        <p:nvPicPr>
          <p:cNvPr descr="image.png"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367212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7"/>
          <p:cNvSpPr txBox="1"/>
          <p:nvPr/>
        </p:nvSpPr>
        <p:spPr>
          <a:xfrm>
            <a:off x="2181225" y="4319587"/>
            <a:ext cx="72009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Full Automation: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Ensure the entire system operates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end-to-end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without any user intervention.</a:t>
            </a:r>
            <a:endParaRPr/>
          </a:p>
        </p:txBody>
      </p:sp>
      <p:pic>
        <p:nvPicPr>
          <p:cNvPr descr="image.png" id="166" name="Google Shape;16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09750" y="4833937"/>
            <a:ext cx="22860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2181225" y="4868051"/>
            <a:ext cx="75915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Performance Target: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Achieve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high accuracy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and low latency, delivering a scalable, low-cost solution.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Project Objectives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id="169" name="Google Shape;16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238625"/>
            <a:ext cx="5286375" cy="1876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581150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571500" y="1581150"/>
            <a:ext cx="5550693" cy="361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Four Key Layers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571500" y="21145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1. Sensing Layer: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ESP32 collects real-time data (Temp, Hum, Rain, UV) via multiple sensors.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571500" y="28003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2. Processing Layer: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Python backend handles cleaning, scaling, and feature encoding.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571500" y="3486150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3. ML Classification: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KNN model instantly classifies data into 8 weather types.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09625" y="4429125"/>
            <a:ext cx="510063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DB954"/>
                </a:solidFill>
                <a:latin typeface="Urbanist"/>
                <a:ea typeface="Urbanist"/>
                <a:cs typeface="Urbanist"/>
                <a:sym typeface="Urbanist"/>
              </a:rPr>
              <a:t>4. Automated Playback: Zero Intervention</a:t>
            </a:r>
            <a:endParaRPr/>
          </a:p>
        </p:txBody>
      </p:sp>
      <p:sp>
        <p:nvSpPr>
          <p:cNvPr id="182" name="Google Shape;182;p18"/>
          <p:cNvSpPr txBox="1"/>
          <p:nvPr/>
        </p:nvSpPr>
        <p:spPr>
          <a:xfrm>
            <a:off x="809625" y="4857750"/>
            <a:ext cx="48579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Spotify Developer API</a:t>
            </a: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(via Spotipy) uses OAuth to gain playback control. Once weather is classified, the system </a:t>
            </a:r>
            <a:r>
              <a:rPr b="1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automatically and instantly</a:t>
            </a: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pushes the matching song/playlist URI to the user's active device, requiring </a:t>
            </a:r>
            <a:r>
              <a:rPr b="1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zero user intervention</a:t>
            </a: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pic>
        <p:nvPicPr>
          <p:cNvPr descr="image.png" id="183" name="Google Shape;18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1590675"/>
            <a:ext cx="52673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18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Methodology: System Architecture &amp; Data Flow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id="185" name="Google Shape;18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8"/>
          <p:cNvPicPr preferRelativeResize="0"/>
          <p:nvPr/>
        </p:nvPicPr>
        <p:blipFill rotWithShape="1">
          <a:blip r:embed="rId8">
            <a:alphaModFix/>
          </a:blip>
          <a:srcRect b="16670" l="0" r="0" t="10913"/>
          <a:stretch/>
        </p:blipFill>
        <p:spPr>
          <a:xfrm>
            <a:off x="6343650" y="1590675"/>
            <a:ext cx="5550700" cy="4214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33812"/>
            <a:ext cx="5286375" cy="10754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433637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19"/>
          <p:cNvSpPr txBox="1"/>
          <p:nvPr/>
        </p:nvSpPr>
        <p:spPr>
          <a:xfrm>
            <a:off x="571500" y="1928812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K-Nearest Neighbors (KNN)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5" name="Google Shape;195;p19"/>
          <p:cNvSpPr txBox="1"/>
          <p:nvPr/>
        </p:nvSpPr>
        <p:spPr>
          <a:xfrm>
            <a:off x="571500" y="246221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KNN is used for its simplicity and effectiveness on our small, low-dimensional sensor dataset.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571500" y="3148012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model uses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Euclidean Distance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to find the nearest known weather examples for classification.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334125" y="1928812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Data &amp; Clustering Visualization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98" name="Google Shape;198;p19"/>
          <p:cNvSpPr txBox="1"/>
          <p:nvPr/>
        </p:nvSpPr>
        <p:spPr>
          <a:xfrm>
            <a:off x="649366" y="4033837"/>
            <a:ext cx="513064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Euclidean Distance Formula</a:t>
            </a:r>
            <a:endParaRPr/>
          </a:p>
        </p:txBody>
      </p:sp>
      <p:pic>
        <p:nvPicPr>
          <p:cNvPr descr="image.png" id="199" name="Google Shape;199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43650" y="2443162"/>
            <a:ext cx="2556271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9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Methodology: KNN Classification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id="201" name="Google Shape;20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9"/>
          <p:cNvPicPr preferRelativeResize="0"/>
          <p:nvPr/>
        </p:nvPicPr>
        <p:blipFill rotWithShape="1">
          <a:blip r:embed="rId8">
            <a:alphaModFix/>
          </a:blip>
          <a:srcRect b="21082" l="0" r="0" t="16413"/>
          <a:stretch/>
        </p:blipFill>
        <p:spPr>
          <a:xfrm>
            <a:off x="6334125" y="2462200"/>
            <a:ext cx="5286374" cy="33039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7" name="Google Shape;20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8" name="Google Shape;20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5188" y="568425"/>
            <a:ext cx="3048500" cy="27581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09" name="Google Shape;209;p20"/>
          <p:cNvGraphicFramePr/>
          <p:nvPr/>
        </p:nvGraphicFramePr>
        <p:xfrm>
          <a:off x="571500" y="36671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{5D7C63AB-443D-4F02-A74C-22367150B4C8}</a:tableStyleId>
              </a:tblPr>
              <a:tblGrid>
                <a:gridCol w="5382225"/>
                <a:gridCol w="5666775"/>
              </a:tblGrid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Result / Finding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Accuracy (KNN)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100%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Average Latency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&lt; 10 seconds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System Reliability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Real-Time &amp; Fully Automated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575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Classification Categories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chemeClr val="lt1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 Types</a:t>
                      </a:r>
                      <a:endParaRPr b="1">
                        <a:solidFill>
                          <a:schemeClr val="lt1"/>
                        </a:solidFill>
                      </a:endParaRPr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</a:tbl>
          </a:graphicData>
        </a:graphic>
      </p:graphicFrame>
      <p:sp>
        <p:nvSpPr>
          <p:cNvPr id="210" name="Google Shape;210;p20"/>
          <p:cNvSpPr txBox="1"/>
          <p:nvPr/>
        </p:nvSpPr>
        <p:spPr>
          <a:xfrm>
            <a:off x="4167138" y="140825"/>
            <a:ext cx="3384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High-Speed Automation</a:t>
            </a:r>
            <a:endParaRPr>
              <a:solidFill>
                <a:srgbClr val="D1A65C"/>
              </a:solidFill>
            </a:endParaRPr>
          </a:p>
        </p:txBody>
      </p:sp>
      <p:sp>
        <p:nvSpPr>
          <p:cNvPr id="211" name="Google Shape;211;p20"/>
          <p:cNvSpPr txBox="1"/>
          <p:nvPr/>
        </p:nvSpPr>
        <p:spPr>
          <a:xfrm>
            <a:off x="4095750" y="7419975"/>
            <a:ext cx="40005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system ensures immediate context-based entertainment.</a:t>
            </a:r>
            <a:endParaRPr/>
          </a:p>
        </p:txBody>
      </p:sp>
      <p:pic>
        <p:nvPicPr>
          <p:cNvPr descr="image.png" id="212" name="Google Shape;212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05275" y="3667125"/>
            <a:ext cx="3508325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0"/>
          <p:cNvSpPr txBox="1"/>
          <p:nvPr/>
        </p:nvSpPr>
        <p:spPr>
          <a:xfrm>
            <a:off x="571500" y="-942975"/>
            <a:ext cx="11601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Results and Performance Summary</a:t>
            </a:r>
            <a:endParaRPr/>
          </a:p>
        </p:txBody>
      </p:sp>
      <p:pic>
        <p:nvPicPr>
          <p:cNvPr id="214" name="Google Shape;21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0"/>
          <p:cNvPicPr preferRelativeResize="0"/>
          <p:nvPr/>
        </p:nvPicPr>
        <p:blipFill rotWithShape="1">
          <a:blip r:embed="rId7">
            <a:alphaModFix/>
          </a:blip>
          <a:srcRect b="22828" l="0" r="0" t="16923"/>
          <a:stretch/>
        </p:blipFill>
        <p:spPr>
          <a:xfrm>
            <a:off x="3371400" y="551510"/>
            <a:ext cx="4976074" cy="29979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76487"/>
            <a:ext cx="34290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376487"/>
            <a:ext cx="3429000" cy="29432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3" name="Google Shape;22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91500" y="2376487"/>
            <a:ext cx="3429000" cy="2943225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1"/>
          <p:cNvSpPr txBox="1"/>
          <p:nvPr/>
        </p:nvSpPr>
        <p:spPr>
          <a:xfrm>
            <a:off x="1165860" y="3386137"/>
            <a:ext cx="224028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Hyper-Local Sensing</a:t>
            </a:r>
            <a:endParaRPr/>
          </a:p>
        </p:txBody>
      </p:sp>
      <p:sp>
        <p:nvSpPr>
          <p:cNvPr id="225" name="Google Shape;225;p21"/>
          <p:cNvSpPr txBox="1"/>
          <p:nvPr/>
        </p:nvSpPr>
        <p:spPr>
          <a:xfrm>
            <a:off x="866775" y="3957637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Goes beyond generic city-wide forecasts to use immediate, personal environmental data from the user's exact location.</a:t>
            </a:r>
            <a:endParaRPr/>
          </a:p>
        </p:txBody>
      </p:sp>
      <p:sp>
        <p:nvSpPr>
          <p:cNvPr id="226" name="Google Shape;226;p21"/>
          <p:cNvSpPr txBox="1"/>
          <p:nvPr/>
        </p:nvSpPr>
        <p:spPr>
          <a:xfrm>
            <a:off x="4795837" y="3386137"/>
            <a:ext cx="26003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End-to-End Automation</a:t>
            </a:r>
            <a:endParaRPr/>
          </a:p>
        </p:txBody>
      </p:sp>
      <p:sp>
        <p:nvSpPr>
          <p:cNvPr id="227" name="Google Shape;227;p21"/>
          <p:cNvSpPr txBox="1"/>
          <p:nvPr/>
        </p:nvSpPr>
        <p:spPr>
          <a:xfrm>
            <a:off x="4676775" y="3957637"/>
            <a:ext cx="2838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</a:t>
            </a:r>
            <a:r>
              <a:rPr b="1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Spotipy library and OAuth</a:t>
            </a: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enable a seamless "sense-to-playback" loop. The system automatically controls the Spotify device, eliminating manual input.</a:t>
            </a: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8915876" y="3386137"/>
            <a:ext cx="1980247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Context-Aware AI</a:t>
            </a:r>
            <a:endParaRPr/>
          </a:p>
        </p:txBody>
      </p:sp>
      <p:sp>
        <p:nvSpPr>
          <p:cNvPr id="229" name="Google Shape;229;p21"/>
          <p:cNvSpPr txBox="1"/>
          <p:nvPr/>
        </p:nvSpPr>
        <p:spPr>
          <a:xfrm>
            <a:off x="8486775" y="3957637"/>
            <a:ext cx="283845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Bridges the gap between the physical environment (weather) and an abstract emotional state (music preference).</a:t>
            </a:r>
            <a:endParaRPr/>
          </a:p>
        </p:txBody>
      </p:sp>
      <p:pic>
        <p:nvPicPr>
          <p:cNvPr descr="image.png" id="230" name="Google Shape;23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057400" y="2690812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0" y="2690812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677400" y="2690812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Key Innovations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id="234" name="Google Shape;234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0" name="Google Shape;240;p22"/>
          <p:cNvGraphicFramePr/>
          <p:nvPr/>
        </p:nvGraphicFramePr>
        <p:xfrm>
          <a:off x="571500" y="197704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{5D7C63AB-443D-4F02-A74C-22367150B4C8}</a:tableStyleId>
              </a:tblPr>
              <a:tblGrid>
                <a:gridCol w="1724175"/>
                <a:gridCol w="2529775"/>
                <a:gridCol w="6795050"/>
              </a:tblGrid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DB95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Paper / Concept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BFFF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Focus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1DB954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Identified Research Gap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Context-Aware Music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Used user history &amp; basic weather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Lacked </a:t>
                      </a:r>
                      <a:r>
                        <a:rPr b="1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live, real-time IoT integration</a:t>
                      </a: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for hyper-local data.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IoT Weather Monitoring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Focused purely on sensor data collection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Did not link the collected data to any </a:t>
                      </a:r>
                      <a:r>
                        <a:rPr b="1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user-centric applications</a:t>
                      </a: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Emotion-Based Music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Used emotion detection (CV/Audio)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Ignored the </a:t>
                      </a:r>
                      <a:r>
                        <a:rPr b="1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external environmental context</a:t>
                      </a: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 (like weather) as a factor.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  <a:tr h="729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Our Project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Fills the Gap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Connects all three</a:t>
                      </a:r>
                      <a:r>
                        <a:rPr b="0" i="0" lang="en-US" sz="1200" u="none" cap="none" strike="noStrike">
                          <a:solidFill>
                            <a:srgbClr val="B0B0B0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: Uses live IoT data (Context) to feed an ML model (AI) that triggers a personalized application (Music).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21212"/>
                    </a:solidFill>
                  </a:tcPr>
                </a:tc>
              </a:tr>
            </a:tbl>
          </a:graphicData>
        </a:graphic>
      </p:graphicFrame>
      <p:sp>
        <p:nvSpPr>
          <p:cNvPr id="241" name="Google Shape;241;p22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Literature Review &amp; Research Gap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id="242" name="Google Shape;24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8" name="Google Shape;24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957387"/>
            <a:ext cx="5286375" cy="428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3"/>
          <p:cNvSpPr txBox="1"/>
          <p:nvPr/>
        </p:nvSpPr>
        <p:spPr>
          <a:xfrm>
            <a:off x="571500" y="1452562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Hardware (ESP32 &amp; Sensors)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0" name="Google Shape;250;p23"/>
          <p:cNvSpPr txBox="1"/>
          <p:nvPr/>
        </p:nvSpPr>
        <p:spPr>
          <a:xfrm>
            <a:off x="571500" y="3957637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Software (Python &amp; API)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1" name="Google Shape;251;p23"/>
          <p:cNvSpPr txBox="1"/>
          <p:nvPr/>
        </p:nvSpPr>
        <p:spPr>
          <a:xfrm>
            <a:off x="6334125" y="1413947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Tech Stack Convergence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52" name="Google Shape;252;p23"/>
          <p:cNvSpPr txBox="1"/>
          <p:nvPr/>
        </p:nvSpPr>
        <p:spPr>
          <a:xfrm>
            <a:off x="571500" y="1957387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Microcontroller: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ESP32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571500" y="2357437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Temp/Hum: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DHT11</a:t>
            </a:r>
            <a:endParaRPr/>
          </a:p>
        </p:txBody>
      </p:sp>
      <p:sp>
        <p:nvSpPr>
          <p:cNvPr id="254" name="Google Shape;254;p23"/>
          <p:cNvSpPr txBox="1"/>
          <p:nvPr/>
        </p:nvSpPr>
        <p:spPr>
          <a:xfrm>
            <a:off x="571500" y="2757487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Pressure/Alt: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BMP180</a:t>
            </a:r>
            <a:endParaRPr/>
          </a:p>
        </p:txBody>
      </p:sp>
      <p:sp>
        <p:nvSpPr>
          <p:cNvPr id="255" name="Google Shape;255;p23"/>
          <p:cNvSpPr txBox="1"/>
          <p:nvPr/>
        </p:nvSpPr>
        <p:spPr>
          <a:xfrm>
            <a:off x="571500" y="3157537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Rain: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Raindrop Sensor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571500" y="3557587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Air Quality: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MQ-135</a:t>
            </a:r>
            <a:endParaRPr/>
          </a:p>
        </p:txBody>
      </p:sp>
      <p:sp>
        <p:nvSpPr>
          <p:cNvPr id="257" name="Google Shape;257;p23"/>
          <p:cNvSpPr txBox="1"/>
          <p:nvPr/>
        </p:nvSpPr>
        <p:spPr>
          <a:xfrm>
            <a:off x="571500" y="4462462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ML/Data: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Scikit-learn, Pandas</a:t>
            </a:r>
            <a:endParaRPr/>
          </a:p>
        </p:txBody>
      </p:sp>
      <p:sp>
        <p:nvSpPr>
          <p:cNvPr id="258" name="Google Shape;258;p23"/>
          <p:cNvSpPr txBox="1"/>
          <p:nvPr/>
        </p:nvSpPr>
        <p:spPr>
          <a:xfrm>
            <a:off x="571500" y="4862512"/>
            <a:ext cx="52863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1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API:</a:t>
            </a:r>
            <a:r>
              <a:rPr b="0" i="0" lang="en-US" sz="13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Spotipy (Spotify Web API)</a:t>
            </a:r>
            <a:endParaRPr/>
          </a:p>
        </p:txBody>
      </p:sp>
      <p:pic>
        <p:nvPicPr>
          <p:cNvPr descr="image.png" id="259" name="Google Shape;25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966912"/>
            <a:ext cx="3687365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200501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1" name="Google Shape;261;p2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24050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2" name="Google Shape;262;p2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280511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3" name="Google Shape;263;p2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320516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4" name="Google Shape;264;p2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571500" y="3605212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5" name="Google Shape;265;p2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571500" y="4510087"/>
            <a:ext cx="19050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6" name="Google Shape;266;p2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571500" y="4910137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3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Tech Stack (Hardware &amp; Software)</a:t>
            </a:r>
            <a:endParaRPr>
              <a:solidFill>
                <a:srgbClr val="D1A65C"/>
              </a:solidFill>
            </a:endParaRPr>
          </a:p>
        </p:txBody>
      </p:sp>
      <p:pic>
        <p:nvPicPr>
          <p:cNvPr id="268" name="Google Shape;268;p23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/>
          <p:cNvPicPr preferRelativeResize="0"/>
          <p:nvPr/>
        </p:nvPicPr>
        <p:blipFill rotWithShape="1">
          <a:blip r:embed="rId14">
            <a:alphaModFix/>
          </a:blip>
          <a:srcRect b="5747" l="5813" r="5972" t="5284"/>
          <a:stretch/>
        </p:blipFill>
        <p:spPr>
          <a:xfrm>
            <a:off x="6281375" y="1821850"/>
            <a:ext cx="5286374" cy="4910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/>
        </p:nvSpPr>
        <p:spPr>
          <a:xfrm>
            <a:off x="571500" y="571500"/>
            <a:ext cx="58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Conclusion &amp; Future Work</a:t>
            </a:r>
            <a:endParaRPr>
              <a:solidFill>
                <a:srgbClr val="D1A65C"/>
              </a:solidFill>
            </a:endParaRPr>
          </a:p>
        </p:txBody>
      </p:sp>
      <p:sp>
        <p:nvSpPr>
          <p:cNvPr id="275" name="Google Shape;275;p24"/>
          <p:cNvSpPr txBox="1"/>
          <p:nvPr/>
        </p:nvSpPr>
        <p:spPr>
          <a:xfrm>
            <a:off x="571500" y="1219200"/>
            <a:ext cx="58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6" name="Google Shape;276;p24"/>
          <p:cNvSpPr txBox="1"/>
          <p:nvPr/>
        </p:nvSpPr>
        <p:spPr>
          <a:xfrm>
            <a:off x="571500" y="1596596"/>
            <a:ext cx="10940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The system successfully combines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IoT, KNN classification, and Spotify integration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, delivering a fully automated, context-aware music experience. It demonstrates high performance, achieving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100% accuracy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in classification and a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low latency (&lt; 10 seconds)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'sense-to-playback' speed.</a:t>
            </a:r>
            <a:endParaRPr/>
          </a:p>
        </p:txBody>
      </p:sp>
      <p:sp>
        <p:nvSpPr>
          <p:cNvPr id="277" name="Google Shape;277;p24"/>
          <p:cNvSpPr txBox="1"/>
          <p:nvPr/>
        </p:nvSpPr>
        <p:spPr>
          <a:xfrm>
            <a:off x="642050" y="2571087"/>
            <a:ext cx="5800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Future Work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78" name="Google Shape;278;p24"/>
          <p:cNvSpPr txBox="1"/>
          <p:nvPr/>
        </p:nvSpPr>
        <p:spPr>
          <a:xfrm>
            <a:off x="642050" y="2932751"/>
            <a:ext cx="8824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Cloud Migration: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Implement AWS/Azure backend for multi-user access and remote device support.</a:t>
            </a:r>
            <a:endParaRPr/>
          </a:p>
        </p:txBody>
      </p:sp>
      <p:sp>
        <p:nvSpPr>
          <p:cNvPr id="279" name="Google Shape;279;p24"/>
          <p:cNvSpPr txBox="1"/>
          <p:nvPr/>
        </p:nvSpPr>
        <p:spPr>
          <a:xfrm>
            <a:off x="642050" y="3297301"/>
            <a:ext cx="949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User Interface (UI):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Develop a mobile/web application for data visualization and preference customization.</a:t>
            </a:r>
            <a:endParaRPr/>
          </a:p>
        </p:txBody>
      </p:sp>
      <p:sp>
        <p:nvSpPr>
          <p:cNvPr id="280" name="Google Shape;280;p24"/>
          <p:cNvSpPr txBox="1"/>
          <p:nvPr/>
        </p:nvSpPr>
        <p:spPr>
          <a:xfrm>
            <a:off x="642050" y="3661851"/>
            <a:ext cx="111759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Predictive ML: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 Utilize Deep Learning models (e.g., LSTMs) for advanced weather </a:t>
            </a:r>
            <a:r>
              <a:rPr b="1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prediction</a:t>
            </a:r>
            <a:r>
              <a:rPr b="0" i="0" lang="en-US" sz="150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, moving beyond simple real-time classification.</a:t>
            </a:r>
            <a:endParaRPr/>
          </a:p>
        </p:txBody>
      </p:sp>
      <p:pic>
        <p:nvPicPr>
          <p:cNvPr id="281" name="Google Shape;28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4"/>
          <p:cNvPicPr preferRelativeResize="0"/>
          <p:nvPr/>
        </p:nvPicPr>
        <p:blipFill rotWithShape="1">
          <a:blip r:embed="rId4">
            <a:alphaModFix/>
          </a:blip>
          <a:srcRect b="32349" l="0" r="0" t="18202"/>
          <a:stretch/>
        </p:blipFill>
        <p:spPr>
          <a:xfrm>
            <a:off x="2482139" y="3922949"/>
            <a:ext cx="6978501" cy="269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212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5"/>
          <p:cNvSpPr txBox="1"/>
          <p:nvPr/>
        </p:nvSpPr>
        <p:spPr>
          <a:xfrm>
            <a:off x="295275" y="1322189"/>
            <a:ext cx="11601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1A65C"/>
                </a:solidFill>
                <a:latin typeface="Urbanist"/>
                <a:ea typeface="Urbanist"/>
                <a:cs typeface="Urbanist"/>
                <a:sym typeface="Urbanist"/>
              </a:rPr>
              <a:t>Thank You</a:t>
            </a:r>
            <a:endParaRPr>
              <a:solidFill>
                <a:srgbClr val="D1A65C"/>
              </a:solidFill>
            </a:endParaRPr>
          </a:p>
        </p:txBody>
      </p:sp>
      <p:sp>
        <p:nvSpPr>
          <p:cNvPr id="289" name="Google Shape;289;p25"/>
          <p:cNvSpPr txBox="1"/>
          <p:nvPr/>
        </p:nvSpPr>
        <p:spPr>
          <a:xfrm>
            <a:off x="571500" y="2636639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Questions?</a:t>
            </a:r>
            <a:endParaRPr/>
          </a:p>
        </p:txBody>
      </p:sp>
      <p:sp>
        <p:nvSpPr>
          <p:cNvPr id="290" name="Google Shape;290;p25"/>
          <p:cNvSpPr txBox="1"/>
          <p:nvPr/>
        </p:nvSpPr>
        <p:spPr>
          <a:xfrm>
            <a:off x="1895475" y="3922514"/>
            <a:ext cx="8821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References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91" name="Google Shape;291;p25"/>
          <p:cNvSpPr txBox="1"/>
          <p:nvPr/>
        </p:nvSpPr>
        <p:spPr>
          <a:xfrm>
            <a:off x="1895475" y="4341614"/>
            <a:ext cx="84010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[1]. “Spotify Web API Documentation,” Spotify for Developers, 2025. [Online]. Available: https://developer.spotify.com/documentation/web-api/</a:t>
            </a:r>
            <a:endParaRPr/>
          </a:p>
        </p:txBody>
      </p:sp>
      <p:sp>
        <p:nvSpPr>
          <p:cNvPr id="292" name="Google Shape;292;p25"/>
          <p:cNvSpPr txBox="1"/>
          <p:nvPr/>
        </p:nvSpPr>
        <p:spPr>
          <a:xfrm>
            <a:off x="1895475" y="4661594"/>
            <a:ext cx="84010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[2]. Pedregosa, F., Varoquaux, G., Gramfort, A., et al., “Scikit-learn: Machine Learning in Python,” Journal of Machine Learning Research, 2011.</a:t>
            </a:r>
            <a:endParaRPr/>
          </a:p>
        </p:txBody>
      </p:sp>
      <p:sp>
        <p:nvSpPr>
          <p:cNvPr id="293" name="Google Shape;293;p25"/>
          <p:cNvSpPr txBox="1"/>
          <p:nvPr/>
        </p:nvSpPr>
        <p:spPr>
          <a:xfrm>
            <a:off x="1895475" y="4981575"/>
            <a:ext cx="84010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[3]. D. Goldberg, “Music Recommendation Systems,” in Recommender Systems Handbook, 2nd ed., Springer, 2015.</a:t>
            </a:r>
            <a:endParaRPr/>
          </a:p>
        </p:txBody>
      </p:sp>
      <p:sp>
        <p:nvSpPr>
          <p:cNvPr id="294" name="Google Shape;294;p25"/>
          <p:cNvSpPr txBox="1"/>
          <p:nvPr/>
        </p:nvSpPr>
        <p:spPr>
          <a:xfrm>
            <a:off x="1895475" y="5301555"/>
            <a:ext cx="8401050" cy="186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B0B0B0"/>
                </a:solidFill>
                <a:latin typeface="Lato"/>
                <a:ea typeface="Lato"/>
                <a:cs typeface="Lato"/>
                <a:sym typeface="Lato"/>
              </a:rPr>
              <a:t>[4]. Adafruit, “DHT11 Temperature &amp; Humidity Sensor Datasheet,” 2025.</a:t>
            </a:r>
            <a:endParaRPr/>
          </a:p>
        </p:txBody>
      </p:sp>
      <p:pic>
        <p:nvPicPr>
          <p:cNvPr id="295" name="Google Shape;29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030575" y="0"/>
            <a:ext cx="2161425" cy="1089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